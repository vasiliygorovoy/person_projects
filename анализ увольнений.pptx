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</p:sldMasterIdLst>
  <p:notesMasterIdLst>
    <p:notesMasterId r:id="rId16"/>
  </p:notesMasterIdLst>
  <p:sldIdLst>
    <p:sldId id="256" r:id="rId3"/>
    <p:sldId id="260" r:id="rId4"/>
    <p:sldId id="263" r:id="rId5"/>
    <p:sldId id="264" r:id="rId6"/>
    <p:sldId id="271" r:id="rId7"/>
    <p:sldId id="276" r:id="rId8"/>
    <p:sldId id="265" r:id="rId9"/>
    <p:sldId id="281" r:id="rId10"/>
    <p:sldId id="266" r:id="rId11"/>
    <p:sldId id="280" r:id="rId12"/>
    <p:sldId id="267" r:id="rId13"/>
    <p:sldId id="273" r:id="rId14"/>
    <p:sldId id="279" r:id="rId15"/>
  </p:sldIdLst>
  <p:sldSz cx="9144000" cy="5143500" type="screen16x9"/>
  <p:notesSz cx="6858000" cy="9144000"/>
  <p:embeddedFontLst>
    <p:embeddedFont>
      <p:font typeface="Proxima Nova" panose="020B0604020202020204" charset="0"/>
      <p:regular r:id="rId17"/>
      <p:bold r:id="rId18"/>
      <p:italic r:id="rId19"/>
      <p:boldItalic r:id="rId20"/>
    </p:embeddedFont>
    <p:embeddedFont>
      <p:font typeface="Proxima Nova Semibold" panose="020B0604020202020204" charset="0"/>
      <p:regular r:id="rId21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95" autoAdjust="0"/>
  </p:normalViewPr>
  <p:slideViewPr>
    <p:cSldViewPr snapToGrid="0">
      <p:cViewPr varScale="1">
        <p:scale>
          <a:sx n="87" d="100"/>
          <a:sy n="87" d="100"/>
        </p:scale>
        <p:origin x="47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58535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45d3f5a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f45d3f5aec_0_8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Титульный слайд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6127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3a5e79da3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3a5e79da3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481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3c8f144e0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13c8f144e0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g13c8f144e0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7651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3c8f144e0a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3c8f144e0a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9724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3a5e79da30_8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3a5e79da30_8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g13a5e79da30_8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9232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9e95685d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a9e95685d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3255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874089cc0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1874089cc04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g1874089cc04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953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ая сетка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0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45" name="Google Shape;45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FA7B17"/>
          </p15:clr>
        </p15:guide>
        <p15:guide id="2" pos="414">
          <p15:clr>
            <a:srgbClr val="FA7B17"/>
          </p15:clr>
        </p15:guide>
        <p15:guide id="3" pos="595">
          <p15:clr>
            <a:srgbClr val="FA7B17"/>
          </p15:clr>
        </p15:guide>
        <p15:guide id="4" pos="777">
          <p15:clr>
            <a:srgbClr val="FA7B17"/>
          </p15:clr>
        </p15:guide>
        <p15:guide id="5" pos="958">
          <p15:clr>
            <a:srgbClr val="FA7B17"/>
          </p15:clr>
        </p15:guide>
        <p15:guide id="6" pos="1148">
          <p15:clr>
            <a:srgbClr val="FA7B17"/>
          </p15:clr>
        </p15:guide>
        <p15:guide id="7" pos="1326">
          <p15:clr>
            <a:srgbClr val="FA7B17"/>
          </p15:clr>
        </p15:guide>
        <p15:guide id="8" pos="1512">
          <p15:clr>
            <a:srgbClr val="FA7B17"/>
          </p15:clr>
        </p15:guide>
        <p15:guide id="9" pos="1695">
          <p15:clr>
            <a:srgbClr val="FA7B17"/>
          </p15:clr>
        </p15:guide>
        <p15:guide id="10" pos="1878">
          <p15:clr>
            <a:srgbClr val="FA7B17"/>
          </p15:clr>
        </p15:guide>
        <p15:guide id="11" pos="2057">
          <p15:clr>
            <a:srgbClr val="FA7B17"/>
          </p15:clr>
        </p15:guide>
        <p15:guide id="12" pos="2243">
          <p15:clr>
            <a:srgbClr val="FA7B17"/>
          </p15:clr>
        </p15:guide>
        <p15:guide id="13" pos="2426">
          <p15:clr>
            <a:srgbClr val="FA7B17"/>
          </p15:clr>
        </p15:guide>
        <p15:guide id="14" pos="2609">
          <p15:clr>
            <a:srgbClr val="FA7B17"/>
          </p15:clr>
        </p15:guide>
        <p15:guide id="15" pos="2788">
          <p15:clr>
            <a:srgbClr val="FA7B17"/>
          </p15:clr>
        </p15:guide>
        <p15:guide id="16" pos="2975">
          <p15:clr>
            <a:srgbClr val="FA7B17"/>
          </p15:clr>
        </p15:guide>
        <p15:guide id="17" pos="3157">
          <p15:clr>
            <a:srgbClr val="FA7B17"/>
          </p15:clr>
        </p15:guide>
        <p15:guide id="18" pos="3341">
          <p15:clr>
            <a:srgbClr val="FA7B17"/>
          </p15:clr>
        </p15:guide>
        <p15:guide id="19" pos="3519">
          <p15:clr>
            <a:srgbClr val="FA7B17"/>
          </p15:clr>
        </p15:guide>
        <p15:guide id="20" pos="3707">
          <p15:clr>
            <a:srgbClr val="FA7B17"/>
          </p15:clr>
        </p15:guide>
        <p15:guide id="21" pos="3888">
          <p15:clr>
            <a:srgbClr val="FA7B17"/>
          </p15:clr>
        </p15:guide>
        <p15:guide id="22" pos="4072">
          <p15:clr>
            <a:srgbClr val="FA7B17"/>
          </p15:clr>
        </p15:guide>
        <p15:guide id="23" pos="4256">
          <p15:clr>
            <a:srgbClr val="FA7B17"/>
          </p15:clr>
        </p15:guide>
        <p15:guide id="24" pos="4440">
          <p15:clr>
            <a:srgbClr val="FA7B17"/>
          </p15:clr>
        </p15:guide>
        <p15:guide id="25" pos="4624">
          <p15:clr>
            <a:srgbClr val="FA7B17"/>
          </p15:clr>
        </p15:guide>
        <p15:guide id="26" pos="4808">
          <p15:clr>
            <a:srgbClr val="FA7B17"/>
          </p15:clr>
        </p15:guide>
        <p15:guide id="27" pos="4983">
          <p15:clr>
            <a:srgbClr val="FA7B17"/>
          </p15:clr>
        </p15:guide>
        <p15:guide id="28" pos="5172">
          <p15:clr>
            <a:srgbClr val="FA7B17"/>
          </p15:clr>
        </p15:guide>
        <p15:guide id="29" pos="5350">
          <p15:clr>
            <a:srgbClr val="FA7B17"/>
          </p15:clr>
        </p15:guide>
        <p15:guide id="30" pos="5535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CUSTOM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2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57" name="Google Shape;57;p1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крупный заголовок">
  <p:cSld name="CUSTOM_2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274184" y="2072199"/>
            <a:ext cx="73263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65" name="Google Shape;65;p1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обычный заголовок">
  <p:cSld name="CUSTOM_2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285746" y="748649"/>
            <a:ext cx="73263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27363" y="215088"/>
            <a:ext cx="73263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14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73" name="Google Shape;73;p1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CUSTOM_1">
    <p:bg>
      <p:bgPr>
        <a:solidFill>
          <a:srgbClr val="4BD0A0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79" name="Google Shape;79;p15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80" name="Google Shape;80;p15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240675" y="1947488"/>
            <a:ext cx="6121800" cy="7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2"/>
          </p:nvPr>
        </p:nvSpPr>
        <p:spPr>
          <a:xfrm>
            <a:off x="282438" y="3588038"/>
            <a:ext cx="73263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6195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раздел">
  <p:cSld name="CUSTOM_1_1">
    <p:bg>
      <p:bgPr>
        <a:solidFill>
          <a:srgbClr val="4BD0A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272913" y="546963"/>
            <a:ext cx="41466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98" name="Google Shape;98;p16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99" name="Google Shape;99;p16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6"/>
          <p:cNvSpPr txBox="1">
            <a:spLocks noGrp="1"/>
          </p:cNvSpPr>
          <p:nvPr>
            <p:ph type="subTitle" idx="2"/>
          </p:nvPr>
        </p:nvSpPr>
        <p:spPr>
          <a:xfrm>
            <a:off x="259137" y="1644513"/>
            <a:ext cx="54285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3"/>
          </p:nvPr>
        </p:nvSpPr>
        <p:spPr>
          <a:xfrm>
            <a:off x="282438" y="2406938"/>
            <a:ext cx="73263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CUSTOM_1_1_1">
    <p:bg>
      <p:bgPr>
        <a:solidFill>
          <a:srgbClr val="4BD0A0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227363" y="2570403"/>
            <a:ext cx="7326300" cy="14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18" name="Google Shape;118;p17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1. Фон dark">
    <p:bg>
      <p:bgPr>
        <a:solidFill>
          <a:schemeClr val="lt2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bg>
      <p:bgPr>
        <a:solidFill>
          <a:schemeClr val="accent2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21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38" name="Google Shape;138;p2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 neo">
    <p:bg>
      <p:bgPr>
        <a:solidFill>
          <a:schemeClr val="accent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neo">
    <p:bg>
      <p:bgPr>
        <a:solidFill>
          <a:schemeClr val="accent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neo">
    <p:bg>
      <p:bgPr>
        <a:solidFill>
          <a:schemeClr val="accent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26"/>
          <p:cNvGrpSpPr/>
          <p:nvPr/>
        </p:nvGrpSpPr>
        <p:grpSpPr>
          <a:xfrm>
            <a:off x="8569715" y="4536460"/>
            <a:ext cx="258577" cy="265368"/>
            <a:chOff x="238125" y="2432825"/>
            <a:chExt cx="779550" cy="781875"/>
          </a:xfrm>
        </p:grpSpPr>
        <p:sp>
          <p:nvSpPr>
            <p:cNvPr id="158" name="Google Shape;158;p2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7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164" name="Google Shape;164;p27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29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78" name="Google Shape;178;p29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9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30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184" name="Google Shape;184;p30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1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1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 1">
  <p:cSld name="14. Определение">
    <p:bg>
      <p:bgPr>
        <a:solidFill>
          <a:schemeClr val="accent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/>
        </p:nvSpPr>
        <p:spPr>
          <a:xfrm>
            <a:off x="319074" y="294016"/>
            <a:ext cx="8566500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+mj-lt"/>
              </a:rPr>
              <a:t>Анализ </a:t>
            </a:r>
            <a:r>
              <a:rPr lang="ru-RU" sz="3600" dirty="0">
                <a:solidFill>
                  <a:schemeClr val="bg1"/>
                </a:solidFill>
                <a:latin typeface="+mj-lt"/>
              </a:rPr>
              <a:t>сотрудников компании и факторов увольнений (поиск </a:t>
            </a:r>
            <a:r>
              <a:rPr lang="ru-RU" sz="3600" dirty="0" err="1">
                <a:solidFill>
                  <a:schemeClr val="bg1"/>
                </a:solidFill>
                <a:latin typeface="+mj-lt"/>
              </a:rPr>
              <a:t>инсайтов</a:t>
            </a:r>
            <a:r>
              <a:rPr lang="ru-RU" sz="3600" dirty="0">
                <a:solidFill>
                  <a:schemeClr val="bg1"/>
                </a:solidFill>
                <a:latin typeface="+mj-lt"/>
              </a:rPr>
              <a:t>, составление рекомендаций </a:t>
            </a:r>
            <a:r>
              <a:rPr lang="ru-RU" sz="3600" dirty="0" err="1">
                <a:solidFill>
                  <a:schemeClr val="bg1"/>
                </a:solidFill>
                <a:latin typeface="+mj-lt"/>
              </a:rPr>
              <a:t>стейкхолдерам</a:t>
            </a:r>
            <a:r>
              <a:rPr lang="ru-RU" sz="36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37"/>
          <p:cNvSpPr txBox="1"/>
          <p:nvPr/>
        </p:nvSpPr>
        <p:spPr>
          <a:xfrm>
            <a:off x="383700" y="2949675"/>
            <a:ext cx="4109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Горовой В.С.</a:t>
            </a: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Группа: </a:t>
            </a:r>
            <a:r>
              <a:rPr lang="ru-RU" sz="1700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DS-128</a:t>
            </a: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 smtClean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2026 </a:t>
            </a: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г.</a:t>
            </a: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/>
        </p:nvSpPr>
        <p:spPr>
          <a:xfrm>
            <a:off x="247924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Задача 1</a:t>
            </a:r>
            <a:endParaRPr sz="32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285236" y="1094971"/>
            <a:ext cx="8294756" cy="81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71450" indent="-171450">
              <a:buClr>
                <a:srgbClr val="00FF99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dirty="0"/>
              <a:t>Анализ сотрудников компании и факторов увольнений (поиск </a:t>
            </a:r>
            <a:r>
              <a:rPr lang="ru-RU" sz="2000" dirty="0" err="1"/>
              <a:t>инсайтов</a:t>
            </a:r>
            <a:r>
              <a:rPr lang="ru-RU" sz="2000" dirty="0"/>
              <a:t>, составление рекомендаций </a:t>
            </a:r>
            <a:r>
              <a:rPr lang="ru-RU" sz="2000" dirty="0" err="1" smtClean="0"/>
              <a:t>стейкхолдерам</a:t>
            </a:r>
            <a:r>
              <a:rPr lang="ru-RU" sz="2000" dirty="0"/>
              <a:t>)</a:t>
            </a:r>
          </a:p>
          <a:p>
            <a:pPr marL="171450" indent="-171450">
              <a:buClr>
                <a:srgbClr val="00FF99"/>
              </a:buClr>
              <a:buSzPct val="200000"/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Google Shape;260;p41"/>
          <p:cNvSpPr txBox="1"/>
          <p:nvPr/>
        </p:nvSpPr>
        <p:spPr>
          <a:xfrm>
            <a:off x="247924" y="3096226"/>
            <a:ext cx="8369381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71450" indent="-171450">
              <a:buClr>
                <a:srgbClr val="00FF99"/>
              </a:buClr>
              <a:buSzPct val="200000"/>
              <a:buFont typeface="Arial" panose="020B0604020202020204" pitchFamily="34" charset="0"/>
              <a:buChar char="•"/>
            </a:pPr>
            <a:r>
              <a:rPr lang="ru-RU" sz="2000" dirty="0"/>
              <a:t>Построение модели для дальнейшего прогнозирования возможных </a:t>
            </a:r>
            <a:r>
              <a:rPr lang="ru-RU" sz="2000" dirty="0" smtClean="0"/>
              <a:t>увольнений</a:t>
            </a:r>
            <a:endParaRPr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286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99"/>
              </a:buClr>
              <a:buSzPct val="200000"/>
              <a:buFont typeface="Arial" panose="020B0604020202020204" pitchFamily="34" charset="0"/>
              <a:buChar char="•"/>
            </a:pPr>
            <a:endParaRPr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99"/>
              </a:buClr>
              <a:buSzPct val="200000"/>
              <a:buFont typeface="Arial" panose="020B0604020202020204" pitchFamily="34" charset="0"/>
              <a:buChar char="•"/>
            </a:pPr>
            <a:endParaRPr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Google Shape;259;p41"/>
          <p:cNvSpPr txBox="1"/>
          <p:nvPr/>
        </p:nvSpPr>
        <p:spPr>
          <a:xfrm>
            <a:off x="247924" y="2324926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Задача 2</a:t>
            </a:r>
            <a:endParaRPr sz="32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Описание проведенного исследования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0" name="Google Shape;280;p44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dirty="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4800" b="0" i="0" u="none" strike="noStrike" cap="none" dirty="0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52" y="431475"/>
            <a:ext cx="4200156" cy="1872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892" y="395475"/>
            <a:ext cx="4250734" cy="190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52" y="2787546"/>
            <a:ext cx="4196398" cy="1908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892" y="2751546"/>
            <a:ext cx="4275575" cy="19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311" y="762507"/>
            <a:ext cx="4037536" cy="3240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51" y="762507"/>
            <a:ext cx="4066022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92" y="123897"/>
            <a:ext cx="5084886" cy="2340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92" y="2589119"/>
            <a:ext cx="5084886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4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Построение модели</a:t>
            </a: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3" name="Google Shape;293;p46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dirty="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sz="4800" b="0" i="0" u="none" strike="noStrike" cap="none" dirty="0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82726"/>
            <a:ext cx="632737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Цель построения</a:t>
            </a:r>
            <a:r>
              <a:rPr lang="ru-RU" b="1" dirty="0" smtClean="0"/>
              <a:t>:</a:t>
            </a:r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Заранее находить сотрудников которые могут уволиться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Столбец </a:t>
            </a:r>
            <a:r>
              <a:rPr lang="ru-RU" dirty="0" err="1"/>
              <a:t>Attrition</a:t>
            </a:r>
            <a:r>
              <a:rPr lang="ru-RU" dirty="0"/>
              <a:t> Целевая переменная (Уволился — </a:t>
            </a:r>
            <a:r>
              <a:rPr lang="ru-RU" dirty="0" err="1"/>
              <a:t>Yes</a:t>
            </a:r>
            <a:r>
              <a:rPr lang="ru-RU" dirty="0"/>
              <a:t>, Остался — </a:t>
            </a:r>
            <a:r>
              <a:rPr lang="ru-RU" dirty="0" err="1"/>
              <a:t>No</a:t>
            </a:r>
            <a:r>
              <a:rPr lang="ru-RU" dirty="0"/>
              <a:t>).</a:t>
            </a:r>
            <a:br>
              <a:rPr lang="ru-RU" dirty="0"/>
            </a:br>
            <a:r>
              <a:rPr lang="ru-RU" dirty="0"/>
              <a:t>Все остальные столбцы признаки.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4291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417" y="173664"/>
            <a:ext cx="6514060" cy="2196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23" y="2369664"/>
            <a:ext cx="6514060" cy="219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42631" y="164379"/>
            <a:ext cx="4709944" cy="4042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2400" dirty="0" smtClean="0">
                <a:solidFill>
                  <a:srgbClr val="4BD0A0"/>
                </a:solidFill>
                <a:latin typeface="Proxima Nova" panose="020B0604020202020204" charset="0"/>
                <a:ea typeface="Proxima Nova Semibold"/>
                <a:cs typeface="Proxima Nova Semibold"/>
                <a:sym typeface="Proxima Nova Semibold"/>
              </a:rPr>
              <a:t>Результат построения моделей</a:t>
            </a:r>
            <a:endParaRPr lang="ru-RU" sz="2400" dirty="0">
              <a:solidFill>
                <a:srgbClr val="4BD0A0"/>
              </a:solidFill>
              <a:latin typeface="Proxima Nova" panose="020B0604020202020204" charset="0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250" y="826617"/>
            <a:ext cx="88294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 err="1" smtClean="0"/>
              <a:t>Precision</a:t>
            </a:r>
            <a:r>
              <a:rPr lang="ru-RU" dirty="0" smtClean="0"/>
              <a:t> </a:t>
            </a:r>
            <a:r>
              <a:rPr lang="ru-RU" dirty="0"/>
              <a:t>(Точность) — 0.40 (40%): Этот показатель говорит о качестве прогноза. Из всех сотрудников, которых модель пометила меткой «уволится», только 40% реально покинули компанию. В остальных 60% случаев модель выдала ложную тревогу на лояльных сотрудников. Бизнес-смысл: Модель склонна перестраховываться и искать риски там, где их </a:t>
            </a:r>
            <a:r>
              <a:rPr lang="ru-RU" dirty="0" smtClean="0"/>
              <a:t>нет.</a:t>
            </a:r>
          </a:p>
          <a:p>
            <a:pPr marL="342900" indent="-342900">
              <a:buAutoNum type="arabicPeriod"/>
            </a:pP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 err="1" smtClean="0"/>
              <a:t>Recall</a:t>
            </a:r>
            <a:r>
              <a:rPr lang="ru-RU" dirty="0" smtClean="0"/>
              <a:t> </a:t>
            </a:r>
            <a:r>
              <a:rPr lang="ru-RU" dirty="0"/>
              <a:t>(Полнота) — 0.76 (76%): Это главный успех логистической регрессии перед случайным лесом. Она смогла вычислить и распознать 76% всех реально уволившихся сотрудников. Она пропустила лишь каждого четвертого (24%), что является отличным показателем. Бизнес-смысл: Мы видим подавляющее большинство людей в зоне </a:t>
            </a:r>
            <a:r>
              <a:rPr lang="ru-RU" dirty="0" smtClean="0"/>
              <a:t>риска.</a:t>
            </a:r>
          </a:p>
          <a:p>
            <a:pPr marL="342900" indent="-342900">
              <a:buAutoNum type="arabicPeriod"/>
            </a:pP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 smtClean="0"/>
              <a:t>F1-score </a:t>
            </a:r>
            <a:r>
              <a:rPr lang="ru-RU" dirty="0"/>
              <a:t>— 0.52: Это сбалансированная метрика. Она подтверждает, что логистическая регрессия работает стабильно. Значение выше 0.5 для такой несбалансированной выборки (где увольняющихся мало) считается хорошим рабочим </a:t>
            </a:r>
            <a:r>
              <a:rPr lang="ru-RU" dirty="0" smtClean="0"/>
              <a:t>результатом.</a:t>
            </a:r>
          </a:p>
          <a:p>
            <a:pPr marL="342900" indent="-342900">
              <a:buAutoNum type="arabicPeriod"/>
            </a:pP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 smtClean="0"/>
              <a:t>Несмотря </a:t>
            </a:r>
            <a:r>
              <a:rPr lang="ru-RU" dirty="0"/>
              <a:t>на умеренную точность (</a:t>
            </a:r>
            <a:r>
              <a:rPr lang="ru-RU" dirty="0" err="1"/>
              <a:t>Precision</a:t>
            </a:r>
            <a:r>
              <a:rPr lang="ru-RU" dirty="0"/>
              <a:t> 0.40), логистическая регрессия обладает высокой прогностической силой по сравнению со случайным лесом, обнаруживая 76% (</a:t>
            </a:r>
            <a:r>
              <a:rPr lang="ru-RU" dirty="0" err="1"/>
              <a:t>Recall</a:t>
            </a:r>
            <a:r>
              <a:rPr lang="ru-RU" dirty="0"/>
              <a:t>) сотрудников, намеревающихся уйти, при этом показывая лишь незначительное переобучение. В тоже время у случайного леса этот показатель равен лишь </a:t>
            </a:r>
            <a:r>
              <a:rPr lang="ru-RU" dirty="0" smtClean="0"/>
              <a:t>24 </a:t>
            </a:r>
            <a:r>
              <a:rPr lang="ru-RU" dirty="0"/>
              <a:t>%.</a:t>
            </a:r>
          </a:p>
        </p:txBody>
      </p:sp>
    </p:spTree>
    <p:extLst>
      <p:ext uri="{BB962C8B-B14F-4D97-AF65-F5344CB8AC3E}">
        <p14:creationId xmlns:p14="http://schemas.microsoft.com/office/powerpoint/2010/main" val="380626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Выводы и рекомендации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6" name="Google Shape;306;p48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2;p43"/>
          <p:cNvSpPr txBox="1"/>
          <p:nvPr/>
        </p:nvSpPr>
        <p:spPr>
          <a:xfrm>
            <a:off x="1814470" y="116799"/>
            <a:ext cx="5298706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Возможные причины увольнений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" name="Google Shape;272;p43"/>
          <p:cNvSpPr txBox="1"/>
          <p:nvPr/>
        </p:nvSpPr>
        <p:spPr>
          <a:xfrm>
            <a:off x="329186" y="943660"/>
            <a:ext cx="8580728" cy="3935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AutoNum type="arabicPeriod"/>
            </a:pPr>
            <a:r>
              <a:rPr lang="ru-RU" sz="1600" dirty="0"/>
              <a:t>У</a:t>
            </a:r>
            <a:r>
              <a:rPr lang="ru-RU" sz="1600" dirty="0" smtClean="0"/>
              <a:t>волившиеся </a:t>
            </a:r>
            <a:r>
              <a:rPr lang="ru-RU" sz="1600" dirty="0"/>
              <a:t>подверглись предвзятому отношению со стороны непосредственного руководителя. Причиной могло послужить то, что сотрудник не имел должного опыта чтобы заслужить одобрение со стороны </a:t>
            </a:r>
            <a:r>
              <a:rPr lang="ru-RU" sz="1600" dirty="0" smtClean="0"/>
              <a:t>руководителя.</a:t>
            </a:r>
          </a:p>
          <a:p>
            <a:pPr marL="342900" indent="-342900">
              <a:buAutoNum type="arabicPeriod"/>
            </a:pPr>
            <a:endParaRPr lang="ru-RU" sz="1600" dirty="0" smtClean="0"/>
          </a:p>
          <a:p>
            <a:pPr marL="342900" indent="-342900">
              <a:buAutoNum type="arabicPeriod"/>
            </a:pPr>
            <a:r>
              <a:rPr lang="ru-RU" sz="1600" dirty="0"/>
              <a:t>С</a:t>
            </a:r>
            <a:r>
              <a:rPr lang="ru-RU" sz="1600" dirty="0" smtClean="0"/>
              <a:t>верхурочный </a:t>
            </a:r>
            <a:r>
              <a:rPr lang="ru-RU" sz="1600" dirty="0"/>
              <a:t>труд уволившихся не был оценен должным образом. Не исключено, что сотрудников необоснованно штрафовали. Также им могли просто не доплатить за сверхурочную </a:t>
            </a:r>
            <a:r>
              <a:rPr lang="ru-RU" sz="1600" dirty="0" smtClean="0"/>
              <a:t>работу.</a:t>
            </a:r>
          </a:p>
          <a:p>
            <a:pPr marL="342900" indent="-342900">
              <a:buAutoNum type="arabicPeriod"/>
            </a:pPr>
            <a:endParaRPr lang="ru-RU" sz="1600" dirty="0" smtClean="0"/>
          </a:p>
          <a:p>
            <a:pPr marL="342900" indent="-342900">
              <a:buAutoNum type="arabicPeriod"/>
            </a:pPr>
            <a:r>
              <a:rPr lang="ru-RU" sz="1600" dirty="0"/>
              <a:t>П</a:t>
            </a:r>
            <a:r>
              <a:rPr lang="ru-RU" sz="1600" dirty="0" smtClean="0"/>
              <a:t>овышенный </a:t>
            </a:r>
            <a:r>
              <a:rPr lang="ru-RU" sz="1600" dirty="0"/>
              <a:t>интерес к выполняемой работе и нацеленность на результат также не были оценены. Для начинающего специалиста это может быть критичным </a:t>
            </a:r>
            <a:r>
              <a:rPr lang="ru-RU" sz="1600" dirty="0" smtClean="0"/>
              <a:t>моментом.</a:t>
            </a:r>
          </a:p>
          <a:p>
            <a:pPr marL="342900" indent="-342900">
              <a:buAutoNum type="arabicPeriod"/>
            </a:pPr>
            <a:endParaRPr lang="ru-RU" sz="1600" dirty="0" smtClean="0"/>
          </a:p>
          <a:p>
            <a:pPr marL="342900" indent="-342900">
              <a:buAutoNum type="arabicPeriod"/>
            </a:pPr>
            <a:r>
              <a:rPr lang="ru-RU" sz="1600" dirty="0"/>
              <a:t>Ч</a:t>
            </a:r>
            <a:r>
              <a:rPr lang="ru-RU" sz="1600" dirty="0" smtClean="0"/>
              <a:t>резмерный </a:t>
            </a:r>
            <a:r>
              <a:rPr lang="ru-RU" sz="1600" dirty="0"/>
              <a:t>объем выполняемых задач возложенный на новых сотрудников.</a:t>
            </a:r>
          </a:p>
          <a:p>
            <a:pPr>
              <a:buClr>
                <a:srgbClr val="00FF99"/>
              </a:buClr>
              <a:buSzPct val="300000"/>
            </a:pPr>
            <a:endParaRPr lang="ru-RU" sz="1600" dirty="0"/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FF99"/>
              </a:buClr>
              <a:buSzPct val="300000"/>
              <a:buFont typeface="Arial" panose="020B0604020202020204" pitchFamily="34" charset="0"/>
              <a:buChar char="•"/>
            </a:pPr>
            <a:endParaRPr sz="12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1805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2;p43"/>
          <p:cNvSpPr txBox="1"/>
          <p:nvPr/>
        </p:nvSpPr>
        <p:spPr>
          <a:xfrm>
            <a:off x="1915332" y="372831"/>
            <a:ext cx="5298706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Рекомендации </a:t>
            </a:r>
            <a:r>
              <a:rPr lang="ru-RU" sz="2500" dirty="0" err="1" smtClean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стейкхолдерам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3" name="Google Shape;272;p43"/>
          <p:cNvSpPr txBox="1"/>
          <p:nvPr/>
        </p:nvSpPr>
        <p:spPr>
          <a:xfrm>
            <a:off x="277978" y="1258214"/>
            <a:ext cx="8573414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buAutoNum type="arabicPeriod"/>
            </a:pPr>
            <a:r>
              <a:rPr lang="ru-RU" dirty="0" smtClean="0"/>
              <a:t>Анонимные </a:t>
            </a:r>
            <a:r>
              <a:rPr lang="ru-RU" dirty="0"/>
              <a:t>опросы сотрудников об условиях работы и взаимоотношениях в коллективе. Это поможет увидеть объективную картину и выявить токсичных руководителей до того, как от них разбежится весь </a:t>
            </a:r>
            <a:r>
              <a:rPr lang="ru-RU" dirty="0" smtClean="0"/>
              <a:t>отдел.</a:t>
            </a:r>
          </a:p>
          <a:p>
            <a:pPr marL="228600" indent="-228600">
              <a:buAutoNum type="arabicPeriod"/>
            </a:pPr>
            <a:endParaRPr lang="ru-RU" dirty="0" smtClean="0"/>
          </a:p>
          <a:p>
            <a:pPr marL="228600" indent="-228600">
              <a:buAutoNum type="arabicPeriod"/>
            </a:pPr>
            <a:r>
              <a:rPr lang="ru-RU" dirty="0" smtClean="0"/>
              <a:t>Проверить </a:t>
            </a:r>
            <a:r>
              <a:rPr lang="ru-RU" dirty="0"/>
              <a:t>систему выплат за переработки. Если сотрудники уходят, значит, либо им мало платят за это, либо они выгорают морально. Нужно либо нанять еще людей, чтобы распределить нагрузку, либо увеличить бонус за </a:t>
            </a:r>
            <a:r>
              <a:rPr lang="ru-RU" dirty="0" smtClean="0"/>
              <a:t>переработки.</a:t>
            </a:r>
          </a:p>
          <a:p>
            <a:pPr marL="228600" indent="-228600">
              <a:buAutoNum type="arabicPeriod"/>
            </a:pPr>
            <a:endParaRPr lang="ru-RU" dirty="0" smtClean="0"/>
          </a:p>
          <a:p>
            <a:pPr marL="228600" indent="-228600">
              <a:buAutoNum type="arabicPeriod"/>
            </a:pPr>
            <a:r>
              <a:rPr lang="ru-RU" dirty="0" smtClean="0"/>
              <a:t>Внедрить </a:t>
            </a:r>
            <a:r>
              <a:rPr lang="ru-RU" dirty="0"/>
              <a:t>программу </a:t>
            </a:r>
            <a:r>
              <a:rPr lang="ru-RU" dirty="0" err="1"/>
              <a:t>менторства</a:t>
            </a:r>
            <a:r>
              <a:rPr lang="ru-RU" dirty="0"/>
              <a:t> для молодых кадров и закрепить за каждым новичком опытного напарника, который поможет </a:t>
            </a:r>
            <a:r>
              <a:rPr lang="ru-RU" dirty="0" smtClean="0"/>
              <a:t>адаптироваться.</a:t>
            </a:r>
          </a:p>
          <a:p>
            <a:pPr marL="228600" indent="-228600">
              <a:buAutoNum type="arabicPeriod"/>
            </a:pPr>
            <a:endParaRPr lang="ru-RU" dirty="0" smtClean="0"/>
          </a:p>
          <a:p>
            <a:pPr marL="228600" indent="-228600">
              <a:buAutoNum type="arabicPeriod"/>
            </a:pPr>
            <a:r>
              <a:rPr lang="ru-RU" dirty="0" smtClean="0"/>
              <a:t>Использовать </a:t>
            </a:r>
            <a:r>
              <a:rPr lang="ru-RU" dirty="0"/>
              <a:t>обученную ML-модель для раннего предупреждения увольнений. Периодически давать модели новые данные. Если сотрудник попал в зону риска, HR-менеджер должен провести разговор по душам.</a:t>
            </a:r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FF99"/>
              </a:buClr>
              <a:buSzPct val="300000"/>
              <a:buFont typeface="Arial" panose="020B0604020202020204" pitchFamily="34" charset="0"/>
              <a:buChar char="•"/>
            </a:pPr>
            <a:endParaRPr sz="12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72181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 Gree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O_presentation">
  <a:themeElements>
    <a:clrScheme name="NE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494</Words>
  <Application>Microsoft Office PowerPoint</Application>
  <PresentationFormat>Экран (16:9)</PresentationFormat>
  <Paragraphs>54</Paragraphs>
  <Slides>13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Proxima Nova</vt:lpstr>
      <vt:lpstr>Proxima Nova Semibold</vt:lpstr>
      <vt:lpstr>White Green</vt:lpstr>
      <vt:lpstr>NEO_presentation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Notebook</cp:lastModifiedBy>
  <cp:revision>34</cp:revision>
  <dcterms:modified xsi:type="dcterms:W3CDTF">2026-03-05T18:24:19Z</dcterms:modified>
</cp:coreProperties>
</file>